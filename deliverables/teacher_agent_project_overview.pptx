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870000" y="520000"/>
            <a:ext cx="3000000" cy="350000"/>
          </a:xfrm>
          <a:noFill/>
          <a:ln>
            <a:noFill/>
          </a:ln>
        </p:spPr>
        <p:txBody>
          <a:bodyPr wrap="square"/>
          <a:lstStyle/>
          <a:p>
            <a:r>
              <a:rPr lang="zh-CN" sz="1600" dirty="0">
                <a:b/>
                <a:solidFill>
                  <a:srgbClr val="2563EB"/>
                </a:solidFill>
              </a:rPr>
              <a:t>项目概览</a:t>
            </a:r>
            <a:endParaRPr lang="zh-CN" sz="1600"/>
          </a:p>
        </p:txBody>
      </p:sp>
      <p:sp>
        <p:nvSpPr>
          <p:cNvPr id="4" name="Title"/>
          <p:cNvSpPr txBox="1"/>
          <p:nvPr/>
        </p:nvSpPr>
        <p:spPr>
          <a:xfrm>
            <a:off x="870000" y="930000"/>
            <a:ext cx="9800000" cy="900000"/>
          </a:xfrm>
          <a:noFill/>
          <a:ln>
            <a:noFill/>
          </a:ln>
        </p:spPr>
        <p:txBody>
          <a:bodyPr wrap="square"/>
          <a:lstStyle/>
          <a:p>
            <a:r>
              <a:rPr lang="zh-CN" sz="3900" dirty="0">
                <a:b/>
                <a:solidFill>
                  <a:srgbClr val="111827"/>
                </a:solidFill>
              </a:rPr>
              <a:t>Teacher Agent Demo</a:t>
            </a:r>
            <a:endParaRPr lang="zh-CN" sz="3900"/>
          </a:p>
        </p:txBody>
      </p:sp>
      <p:sp>
        <p:nvSpPr>
          <p:cNvPr id="5" name="Subtitle"/>
          <p:cNvSpPr txBox="1"/>
          <p:nvPr/>
        </p:nvSpPr>
        <p:spPr>
          <a:xfrm>
            <a:off x="900000" y="1830000"/>
            <a:ext cx="9800000" cy="540000"/>
          </a:xfrm>
          <a:noFill/>
          <a:ln>
            <a:noFill/>
          </a:ln>
        </p:spPr>
        <p:txBody>
          <a:bodyPr wrap="square"/>
          <a:lstStyle/>
          <a:p>
            <a:r>
              <a:rPr lang="zh-CN" sz="2100" dirty="0">
                <a:solidFill>
                  <a:srgbClr val="475569"/>
                </a:solidFill>
              </a:rPr>
              <a:t>K9 教育 RAG 知识增强 + LLM 主导教学 Agent</a:t>
            </a:r>
            <a:endParaRPr lang="zh-CN" sz="2100"/>
          </a:p>
        </p:txBody>
      </p:sp>
      <p:sp>
        <p:nvSpPr>
          <p:cNvPr id="6" name="Bullets"/>
          <p:cNvSpPr txBox="1"/>
          <p:nvPr/>
        </p:nvSpPr>
        <p:spPr>
          <a:xfrm>
            <a:off x="1180000" y="2850000"/>
            <a:ext cx="9500000" cy="3700000"/>
          </a:xfr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目标：让大模型像老师一样循序渐进讲题，而不是只给答案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对象：中文初中数学为主，扩展到多学科中考知识库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当前状态：Prototype UI + 本地/联网 RAG 已接通</a:t>
            </a:r>
            <a:endParaRPr lang="zh-CN" sz="2600"/>
          </a:p>
        </p:txBody>
      </p:sp>
      <p:sp>
        <p:nvSpPr>
          <p:cNvPr id="7" name="Footer"/>
          <p:cNvSpPr txBox="1"/>
          <p:nvPr/>
        </p:nvSpPr>
        <p:spPr>
          <a:xfrm>
            <a:off x="10000000" y="6300000"/>
            <a:ext cx="1300000" cy="260000"/>
          </a:xfr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b/>
                <a:solidFill>
                  <a:srgbClr val="94A3B8"/>
                </a:solidFill>
              </a:rPr>
              <a:t>01</a:t>
            </a:r>
            <a:endParaRPr lang="zh-CN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870000" y="520000"/>
            <a:ext cx="3000000" cy="350000"/>
          </a:xfrm>
          <a:noFill/>
          <a:ln>
            <a:noFill/>
          </a:ln>
        </p:spPr>
        <p:txBody>
          <a:bodyPr wrap="square"/>
          <a:lstStyle/>
          <a:p>
            <a:r>
              <a:rPr lang="zh-CN" sz="1600" dirty="0">
                <a:b/>
                <a:solidFill>
                  <a:srgbClr val="0F766E"/>
                </a:solidFill>
              </a:rPr>
              <a:t>从答题到教学</a:t>
            </a:r>
            <a:endParaRPr lang="zh-CN" sz="1600"/>
          </a:p>
        </p:txBody>
      </p:sp>
      <p:sp>
        <p:nvSpPr>
          <p:cNvPr id="4" name="Title"/>
          <p:cNvSpPr txBox="1"/>
          <p:nvPr/>
        </p:nvSpPr>
        <p:spPr>
          <a:xfrm>
            <a:off x="870000" y="930000"/>
            <a:ext cx="9800000" cy="900000"/>
          </a:xfrm>
          <a:noFill/>
          <a:ln>
            <a:noFill/>
          </a:ln>
        </p:spPr>
        <p:txBody>
          <a:bodyPr wrap="square"/>
          <a:lstStyle/>
          <a:p>
            <a:r>
              <a:rPr lang="zh-CN" sz="3900" dirty="0">
                <a:b/>
                <a:solidFill>
                  <a:srgbClr val="111827"/>
                </a:solidFill>
              </a:rPr>
              <a:t>我们解决什么问题</a:t>
            </a:r>
            <a:endParaRPr lang="zh-CN" sz="3900"/>
          </a:p>
        </p:txBody>
      </p:sp>
      <p:sp>
        <p:nvSpPr>
          <p:cNvPr id="6" name="Bullets"/>
          <p:cNvSpPr txBox="1"/>
          <p:nvPr/>
        </p:nvSpPr>
        <p:spPr>
          <a:xfrm>
            <a:off x="1180000" y="2500000"/>
            <a:ext cx="9500000" cy="3700000"/>
          </a:xfr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单纯 LLM 会做题，但不一定会教学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学生需要诊断卡点、分步提示、纠错和追问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教育场景需要可控：不乱判步骤、不提前泄答案、不偏离原题</a:t>
            </a:r>
            <a:endParaRPr lang="zh-CN" sz="2600"/>
          </a:p>
        </p:txBody>
      </p:sp>
      <p:sp>
        <p:nvSpPr>
          <p:cNvPr id="7" name="Footer"/>
          <p:cNvSpPr txBox="1"/>
          <p:nvPr/>
        </p:nvSpPr>
        <p:spPr>
          <a:xfrm>
            <a:off x="10000000" y="6300000"/>
            <a:ext cx="1300000" cy="260000"/>
          </a:xfr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b/>
                <a:solidFill>
                  <a:srgbClr val="94A3B8"/>
                </a:solidFill>
              </a:rPr>
              <a:t>02</a:t>
            </a:r>
            <a:endParaRPr 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870000" y="520000"/>
            <a:ext cx="3000000" cy="350000"/>
          </a:xfrm>
          <a:noFill/>
          <a:ln>
            <a:noFill/>
          </a:ln>
        </p:spPr>
        <p:txBody>
          <a:bodyPr wrap="square"/>
          <a:lstStyle/>
          <a:p>
            <a:r>
              <a:rPr lang="zh-CN" sz="1600" dirty="0">
                <a:b/>
                <a:solidFill>
                  <a:srgbClr val="7C3AED"/>
                </a:solidFill>
              </a:rPr>
              <a:t>教学闭环</a:t>
            </a:r>
            <a:endParaRPr lang="zh-CN" sz="1600"/>
          </a:p>
        </p:txBody>
      </p:sp>
      <p:sp>
        <p:nvSpPr>
          <p:cNvPr id="4" name="Title"/>
          <p:cNvSpPr txBox="1"/>
          <p:nvPr/>
        </p:nvSpPr>
        <p:spPr>
          <a:xfrm>
            <a:off x="870000" y="930000"/>
            <a:ext cx="9800000" cy="900000"/>
          </a:xfrm>
          <a:noFill/>
          <a:ln>
            <a:noFill/>
          </a:ln>
        </p:spPr>
        <p:txBody>
          <a:bodyPr wrap="square"/>
          <a:lstStyle/>
          <a:p>
            <a:r>
              <a:rPr lang="zh-CN" sz="3900" dirty="0">
                <a:b/>
                <a:solidFill>
                  <a:srgbClr val="111827"/>
                </a:solidFill>
              </a:rPr>
              <a:t>系统做了什么</a:t>
            </a:r>
            <a:endParaRPr lang="zh-CN" sz="3900"/>
          </a:p>
        </p:txBody>
      </p:sp>
      <p:sp>
        <p:nvSpPr>
          <p:cNvPr id="6" name="Bullets"/>
          <p:cNvSpPr txBox="1"/>
          <p:nvPr/>
        </p:nvSpPr>
        <p:spPr>
          <a:xfrm>
            <a:off x="1180000" y="2500000"/>
            <a:ext cx="9500000" cy="3700000"/>
          </a:xfr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Agent workflow：观察学生输入，判断新题/追问，控制教学节奏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math_checker：用规则验证数学步骤，LLM 不负责裁决正误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Student memory：记录学生掌握度、对话状态和学习事件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Response guard：审计生成内容，发现风险时修复</a:t>
            </a:r>
            <a:endParaRPr lang="zh-CN" sz="2600"/>
          </a:p>
        </p:txBody>
      </p:sp>
      <p:sp>
        <p:nvSpPr>
          <p:cNvPr id="7" name="Footer"/>
          <p:cNvSpPr txBox="1"/>
          <p:nvPr/>
        </p:nvSpPr>
        <p:spPr>
          <a:xfrm>
            <a:off x="10000000" y="6300000"/>
            <a:ext cx="1300000" cy="260000"/>
          </a:xfr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b/>
                <a:solidFill>
                  <a:srgbClr val="94A3B8"/>
                </a:solidFill>
              </a:rPr>
              <a:t>03</a:t>
            </a:r>
            <a:endParaRPr 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870000" y="520000"/>
            <a:ext cx="3000000" cy="350000"/>
          </a:xfrm>
          <a:noFill/>
          <a:ln>
            <a:noFill/>
          </a:ln>
        </p:spPr>
        <p:txBody>
          <a:bodyPr wrap="square"/>
          <a:lstStyle/>
          <a:p>
            <a:r>
              <a:rPr lang="zh-CN" sz="1600" dirty="0">
                <a:b/>
                <a:solidFill>
                  <a:srgbClr val="EA580C"/>
                </a:solidFill>
              </a:rPr>
              <a:t>开卷教学</a:t>
            </a:r>
            <a:endParaRPr lang="zh-CN" sz="1600"/>
          </a:p>
        </p:txBody>
      </p:sp>
      <p:sp>
        <p:nvSpPr>
          <p:cNvPr id="4" name="Title"/>
          <p:cNvSpPr txBox="1"/>
          <p:nvPr/>
        </p:nvSpPr>
        <p:spPr>
          <a:xfrm>
            <a:off x="870000" y="930000"/>
            <a:ext cx="9800000" cy="900000"/>
          </a:xfrm>
          <a:noFill/>
          <a:ln>
            <a:noFill/>
          </a:ln>
        </p:spPr>
        <p:txBody>
          <a:bodyPr wrap="square"/>
          <a:lstStyle/>
          <a:p>
            <a:r>
              <a:rPr lang="zh-CN" sz="3900" dirty="0">
                <a:b/>
                <a:solidFill>
                  <a:srgbClr val="111827"/>
                </a:solidFill>
              </a:rPr>
              <a:t>RAG 知识库能力</a:t>
            </a:r>
            <a:endParaRPr lang="zh-CN" sz="3900"/>
          </a:p>
        </p:txBody>
      </p:sp>
      <p:sp>
        <p:nvSpPr>
          <p:cNvPr id="6" name="Bullets"/>
          <p:cNvSpPr txBox="1"/>
          <p:nvPr/>
        </p:nvSpPr>
        <p:spPr>
          <a:xfrm>
            <a:off x="1180000" y="2500000"/>
            <a:ext cx="9500000" cy="3700000"/>
          </a:xfr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知识规模：约 28.8 万条，覆盖教材、题库、课标和教资资料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混合检索：BM25 关键词 + bge-m3 语义向量 + RRF 融合排序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多级回退：教材原文 → 相似题库 → Tavily 联网补充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服务形态：ChromaDB + HNSW，支持本地毫秒级检索</a:t>
            </a:r>
            <a:endParaRPr lang="zh-CN" sz="2600"/>
          </a:p>
        </p:txBody>
      </p:sp>
      <p:sp>
        <p:nvSpPr>
          <p:cNvPr id="7" name="Footer"/>
          <p:cNvSpPr txBox="1"/>
          <p:nvPr/>
        </p:nvSpPr>
        <p:spPr>
          <a:xfrm>
            <a:off x="10000000" y="6300000"/>
            <a:ext cx="1300000" cy="260000"/>
          </a:xfr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b/>
                <a:solidFill>
                  <a:srgbClr val="94A3B8"/>
                </a:solidFill>
              </a:rPr>
              <a:t>04</a:t>
            </a:r>
            <a:endParaRPr 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870000" y="520000"/>
            <a:ext cx="3000000" cy="350000"/>
          </a:xfrm>
          <a:noFill/>
          <a:ln>
            <a:noFill/>
          </a:ln>
        </p:spPr>
        <p:txBody>
          <a:bodyPr wrap="square"/>
          <a:lstStyle/>
          <a:p>
            <a:r>
              <a:rPr lang="zh-CN" sz="1600" dirty="0">
                <a:b/>
                <a:solidFill>
                  <a:srgbClr val="0891B2"/>
                </a:solidFill>
              </a:rPr>
              <a:t>可演示链路</a:t>
            </a:r>
            <a:endParaRPr lang="zh-CN" sz="1600"/>
          </a:p>
        </p:txBody>
      </p:sp>
      <p:sp>
        <p:nvSpPr>
          <p:cNvPr id="4" name="Title"/>
          <p:cNvSpPr txBox="1"/>
          <p:nvPr/>
        </p:nvSpPr>
        <p:spPr>
          <a:xfrm>
            <a:off x="870000" y="930000"/>
            <a:ext cx="9800000" cy="900000"/>
          </a:xfrm>
          <a:noFill/>
          <a:ln>
            <a:noFill/>
          </a:ln>
        </p:spPr>
        <p:txBody>
          <a:bodyPr wrap="square"/>
          <a:lstStyle/>
          <a:p>
            <a:r>
              <a:rPr lang="zh-CN" sz="3900" dirty="0">
                <a:b/>
                <a:solidFill>
                  <a:srgbClr val="111827"/>
                </a:solidFill>
              </a:rPr>
              <a:t>Prototype 教学流程</a:t>
            </a:r>
            <a:endParaRPr lang="zh-CN" sz="3900"/>
          </a:p>
        </p:txBody>
      </p:sp>
      <p:sp>
        <p:nvSpPr>
          <p:cNvPr id="6" name="Bullets"/>
          <p:cNvSpPr txBox="1"/>
          <p:nvPr/>
        </p:nvSpPr>
        <p:spPr>
          <a:xfrm>
            <a:off x="1180000" y="2500000"/>
            <a:ext cx="9500000" cy="3700000"/>
          </a:xfr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用户消息 → LLM Observer → RAG 检索 → 数学验证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DeepSeek 生成学生可读回复，默认一轮只推进一个关键步骤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抽取可验证方程并审计，必要时触发 repair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Streamlit 展示教师回复、RAG 状态和来源引用</a:t>
            </a:r>
            <a:endParaRPr lang="zh-CN" sz="2600"/>
          </a:p>
        </p:txBody>
      </p:sp>
      <p:sp>
        <p:nvSpPr>
          <p:cNvPr id="7" name="Footer"/>
          <p:cNvSpPr txBox="1"/>
          <p:nvPr/>
        </p:nvSpPr>
        <p:spPr>
          <a:xfrm>
            <a:off x="10000000" y="6300000"/>
            <a:ext cx="1300000" cy="260000"/>
          </a:xfr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b/>
                <a:solidFill>
                  <a:srgbClr val="94A3B8"/>
                </a:solidFill>
              </a:rPr>
              <a:t>05</a:t>
            </a:r>
            <a:endParaRPr lang="zh-C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" name="Section"/>
          <p:cNvSpPr txBox="1"/>
          <p:nvPr/>
        </p:nvSpPr>
        <p:spPr>
          <a:xfrm>
            <a:off x="870000" y="520000"/>
            <a:ext cx="3000000" cy="350000"/>
          </a:xfrm>
          <a:noFill/>
          <a:ln>
            <a:noFill/>
          </a:ln>
        </p:spPr>
        <p:txBody>
          <a:bodyPr wrap="square"/>
          <a:lstStyle/>
          <a:p>
            <a:r>
              <a:rPr lang="zh-CN" sz="1600" dirty="0">
                <a:b/>
                <a:solidFill>
                  <a:srgbClr val="16A34A"/>
                </a:solidFill>
              </a:rPr>
              <a:t>结果与下一步</a:t>
            </a:r>
            <a:endParaRPr lang="zh-CN" sz="1600"/>
          </a:p>
        </p:txBody>
      </p:sp>
      <p:sp>
        <p:nvSpPr>
          <p:cNvPr id="4" name="Title"/>
          <p:cNvSpPr txBox="1"/>
          <p:nvPr/>
        </p:nvSpPr>
        <p:spPr>
          <a:xfrm>
            <a:off x="870000" y="930000"/>
            <a:ext cx="9800000" cy="900000"/>
          </a:xfrm>
          <a:noFill/>
          <a:ln>
            <a:noFill/>
          </a:ln>
        </p:spPr>
        <p:txBody>
          <a:bodyPr wrap="square"/>
          <a:lstStyle/>
          <a:p>
            <a:r>
              <a:rPr lang="zh-CN" sz="3900" dirty="0">
                <a:b/>
                <a:solidFill>
                  <a:srgbClr val="111827"/>
                </a:solidFill>
              </a:rPr>
              <a:t>效果与当前状态</a:t>
            </a:r>
            <a:endParaRPr lang="zh-CN" sz="3900"/>
          </a:p>
        </p:txBody>
      </p:sp>
      <p:sp>
        <p:nvSpPr>
          <p:cNvPr id="6" name="Bullets"/>
          <p:cNvSpPr txBox="1"/>
          <p:nvPr/>
        </p:nvSpPr>
        <p:spPr>
          <a:xfrm>
            <a:off x="1180000" y="2500000"/>
            <a:ext cx="9500000" cy="3700000"/>
          </a:xfrm>
          <a:noFill/>
          <a:ln>
            <a:noFill/>
          </a:ln>
        </p:spPr>
        <p:txBody>
          <a:bodyPr wrap="square" anchor="t"/>
          <a:lstStyle/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化学中考消融：纯模型 43/50，本地 RAG 48/50，本地+联网 50/50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测试覆盖：项目测试约 237 个通过，核心教学约束有回归用例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当前待办：重启 Streamlit 让 rag 字段重新加载</a:t>
            </a:r>
            <a:endParaRPr lang="zh-CN" sz="2600"/>
          </a:p>
          <a:p>
            <a:pPr marL="342900" indent="-228600">
              <a:buChar char="•"/>
            </a:pPr>
            <a:r>
              <a:rPr lang="zh-CN" sz="2600" dirty="0">
                <a:solidFill>
                  <a:srgbClr val="111827"/>
                </a:solidFill>
              </a:rPr>
              <a:t>下一步：调优 RAG prompt、逐题 RAG、扩展更多学科教学策略</a:t>
            </a:r>
            <a:endParaRPr lang="zh-CN" sz="2600"/>
          </a:p>
        </p:txBody>
      </p:sp>
      <p:sp>
        <p:nvSpPr>
          <p:cNvPr id="7" name="Footer"/>
          <p:cNvSpPr txBox="1"/>
          <p:nvPr/>
        </p:nvSpPr>
        <p:spPr>
          <a:xfrm>
            <a:off x="10000000" y="6300000"/>
            <a:ext cx="1300000" cy="260000"/>
          </a:xfr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b/>
                <a:solidFill>
                  <a:srgbClr val="94A3B8"/>
                </a:solidFill>
              </a:rPr>
              <a:t>06</a:t>
            </a:r>
            <a:endParaRPr lang="zh-C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cherAgent">
  <a:themeElements>
    <a:clrScheme name="TeacherAgent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8B5CF6"/>
      </a:accent5>
      <a:accent6>
        <a:srgbClr val="0F766E"/>
      </a:accent6>
      <a:hlink>
        <a:srgbClr val="2563EB"/>
      </a:hlink>
      <a:folHlink>
        <a:srgbClr val="8B5CF6"/>
      </a:folHlink>
    </a:clrScheme>
    <a:fontScheme name="TeacherAgent">
      <a:majorFont>
        <a:latin typeface="Microsoft YaHei"/>
      </a:majorFont>
      <a:minorFont>
        <a:latin typeface="Microsoft YaHei"/>
      </a:minorFont>
    </a:fontScheme>
    <a:fmtScheme name="TeacherAgen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Agent Demo 项目讲解</dc:title>
  <dc:creator>Codex</dc:creator>
  <cp:lastModifiedBy>Codex</cp:lastModifiedBy>
  <dcterms:created xsi:type="dcterms:W3CDTF">2026-07-20T00:00:00Z</dcterms:created>
  <dcterms:modified xsi:type="dcterms:W3CDTF">2026-07-20T00:00:00Z</dcterms:modified>
</cp:coreProperties>
</file>